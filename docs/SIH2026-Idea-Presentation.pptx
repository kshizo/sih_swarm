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Garamond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i5IsbqcNMq6yOzTnab7qIkTv0m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aramond-bold.fntdata"/><Relationship Id="rId12" Type="http://schemas.openxmlformats.org/officeDocument/2006/relationships/font" Target="fonts/Garamo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aramond-boldItalic.fntdata"/><Relationship Id="rId14" Type="http://schemas.openxmlformats.org/officeDocument/2006/relationships/font" Target="fonts/Garamond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6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245686" y="648614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11450" y="1710750"/>
            <a:ext cx="5924700" cy="51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Problem Statement ID –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SIH26177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Problem Statement Title -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A deployable AI-powered autonomous drone that aids search-and-rescue operations by detecting people and hazards, thereby improving responder safety and reducing victim discovery time.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Theme -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Robotics and Drones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PS Category -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Hardware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Team ID -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[Enter Team ID]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YUKTI Registration ID -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[Enter YUKTI ID]</a:t>
            </a:r>
            <a:endParaRPr sz="165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Team Name -</a:t>
            </a:r>
            <a:r>
              <a:rPr lang="en-US" sz="165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Swarm Robotics</a:t>
            </a:r>
            <a:endParaRPr b="1" sz="2400">
              <a:solidFill>
                <a:schemeClr val="dk1"/>
              </a:solidFill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0805" y="1524914"/>
            <a:ext cx="3449780" cy="5228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2301" y="26232"/>
            <a:ext cx="2740998" cy="124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02" name="Google Shape;102;p2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301" y="26232"/>
            <a:ext cx="2740998" cy="124476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714500" y="381000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AI-Powered Autonomous SAR Drone</a:t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Proposed Solution &amp; Technical Innovation</a:t>
            </a:r>
            <a:endParaRPr b="1" sz="14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571500" y="1571625"/>
            <a:ext cx="3476700" cy="4381500"/>
            <a:chOff x="0" y="0"/>
            <a:chExt cx="3476700" cy="438150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3476700" cy="4381500"/>
            </a:xfrm>
            <a:prstGeom prst="roundRect">
              <a:avLst>
                <a:gd fmla="val 328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0" y="0"/>
              <a:ext cx="3476700" cy="57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238125" y="238125"/>
              <a:ext cx="30003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settings_suggest</a:t>
              </a:r>
              <a:r>
                <a:rPr b="1" lang="en-US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PROPOSED SOLUTION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 GPS-denied autonomous drone that enters an unmapped interior, maps it while flying, and detects both people and hazards on board.</a:t>
              </a:r>
              <a:endParaRPr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Position comes from onboard lidar scan-matching instead of GPS, so it holds station and returns geolocated victim coordinates where satellites cannot reach. Validated end-to-end in simulation.</a:t>
              </a:r>
              <a:endParaRPr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4333875" y="1571625"/>
            <a:ext cx="3524400" cy="4381500"/>
            <a:chOff x="0" y="0"/>
            <a:chExt cx="3524400" cy="43815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3524400" cy="4381500"/>
            </a:xfrm>
            <a:prstGeom prst="roundRect">
              <a:avLst>
                <a:gd fmla="val 324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0" y="0"/>
              <a:ext cx="3524400" cy="57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238125" y="238125"/>
              <a:ext cx="30480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gavel</a:t>
              </a:r>
              <a:r>
                <a:rPr b="1" lang="en-US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PROBLEM SOLVED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radar</a:t>
              </a:r>
              <a:r>
                <a:rPr b="1" lang="en-US"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Autonomous Search:</a:t>
              </a: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 Plans its own route to unexplored space. No pilot, no waypoints, no prior map of the building.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emergency</a:t>
              </a:r>
              <a:r>
                <a:rPr b="1" lang="en-US"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Geolocated Victims:</a:t>
              </a: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 Pinned in map coordinates: 3 of 4 survivors located, worst error 0.50 m, best 0.10 m.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r>
                <a:rPr b="1" lang="en-US"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Hazards Mapped First:</a:t>
              </a: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 13 hazards mapped in the same run: 9 debris-narrowed passages and 4 routes with no way through.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8143875" y="1571625"/>
            <a:ext cx="3476700" cy="4381500"/>
            <a:chOff x="0" y="0"/>
            <a:chExt cx="3476700" cy="4381500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3476700" cy="4381500"/>
            </a:xfrm>
            <a:prstGeom prst="roundRect">
              <a:avLst>
                <a:gd fmla="val 328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0" y="0"/>
              <a:ext cx="3476700" cy="57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238125" y="238125"/>
              <a:ext cx="30003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r>
                <a:rPr b="1" lang="en-US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INNOVATION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gps_off</a:t>
              </a:r>
              <a:r>
                <a:rPr b="1" lang="en-US"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GPS-Denied Flight:</a:t>
              </a: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 Lidar odometry drives the autopilot's own EKF as a vision source, so the aircraft flies with the satellites switched off.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cell_tower</a:t>
              </a:r>
              <a:r>
                <a:rPr b="1" lang="en-US" sz="12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Coordination Without Radio:</a:t>
              </a: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 xml:space="preserve"> Two drones divide the building before entry and merge results after exit, exchanging nothing in flight, because walls kill the link.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82524" y="317563"/>
            <a:ext cx="1697400" cy="662100"/>
            <a:chOff x="0" y="0"/>
            <a:chExt cx="1697400" cy="662100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697400" cy="662100"/>
            </a:xfrm>
            <a:prstGeom prst="ellipse">
              <a:avLst/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248579" y="96963"/>
              <a:ext cx="1200300" cy="4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88"/>
                <a:buFont typeface="Arial"/>
                <a:buNone/>
              </a:pPr>
              <a:r>
                <a:rPr b="1" i="0" lang="en-US" sz="1488" u="none" cap="none" strike="noStrike">
                  <a:solidFill>
                    <a:srgbClr val="475569"/>
                  </a:solidFill>
                  <a:latin typeface="Oswald"/>
                  <a:ea typeface="Oswald"/>
                  <a:cs typeface="Oswald"/>
                  <a:sym typeface="Oswald"/>
                </a:rPr>
                <a:t>Swarm Robotics</a:t>
              </a:r>
              <a:endParaRPr b="1" i="0" sz="1488" u="none" cap="none" strike="noStrike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27" name="Google Shape;127;p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id="128" name="Google Shape;128;p3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@SIH Idea submission- Template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29" name="Google Shape;1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301" y="26232"/>
            <a:ext cx="2740998" cy="12447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3"/>
          <p:cNvGrpSpPr/>
          <p:nvPr/>
        </p:nvGrpSpPr>
        <p:grpSpPr>
          <a:xfrm>
            <a:off x="182524" y="317563"/>
            <a:ext cx="1697400" cy="662100"/>
            <a:chOff x="0" y="0"/>
            <a:chExt cx="1697400" cy="662100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1697400" cy="662100"/>
            </a:xfrm>
            <a:prstGeom prst="ellipse">
              <a:avLst/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"/>
            <p:cNvSpPr txBox="1"/>
            <p:nvPr/>
          </p:nvSpPr>
          <p:spPr>
            <a:xfrm>
              <a:off x="248579" y="96963"/>
              <a:ext cx="1200300" cy="46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8">
                  <a:solidFill>
                    <a:srgbClr val="475569"/>
                  </a:solidFill>
                  <a:latin typeface="Oswald"/>
                  <a:ea typeface="Oswald"/>
                  <a:cs typeface="Oswald"/>
                  <a:sym typeface="Oswald"/>
                </a:rPr>
                <a:t>Swarm Robotics</a:t>
              </a:r>
              <a:endParaRPr b="1" sz="1488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609600" y="1047750"/>
            <a:ext cx="10972800" cy="1428675"/>
            <a:chOff x="609600" y="1047750"/>
            <a:chExt cx="10972800" cy="1428675"/>
          </a:xfrm>
        </p:grpSpPr>
        <p:sp>
          <p:nvSpPr>
            <p:cNvPr id="134" name="Google Shape;134;p3"/>
            <p:cNvSpPr txBox="1"/>
            <p:nvPr/>
          </p:nvSpPr>
          <p:spPr>
            <a:xfrm>
              <a:off x="609600" y="1047750"/>
              <a:ext cx="1097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Technologies to be used</a:t>
              </a:r>
              <a:endParaRPr b="1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5" name="Google Shape;135;p3"/>
            <p:cNvGrpSpPr/>
            <p:nvPr/>
          </p:nvGrpSpPr>
          <p:grpSpPr>
            <a:xfrm>
              <a:off x="609600" y="1381125"/>
              <a:ext cx="5334000" cy="1095300"/>
              <a:chOff x="0" y="0"/>
              <a:chExt cx="5334000" cy="1095300"/>
            </a:xfrm>
          </p:grpSpPr>
          <p:sp>
            <p:nvSpPr>
              <p:cNvPr id="136" name="Google Shape;136;p3"/>
              <p:cNvSpPr/>
              <p:nvPr/>
            </p:nvSpPr>
            <p:spPr>
              <a:xfrm>
                <a:off x="0" y="0"/>
                <a:ext cx="5334000" cy="1095300"/>
              </a:xfrm>
              <a:prstGeom prst="roundRect">
                <a:avLst>
                  <a:gd fmla="val 6956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0" y="0"/>
                <a:ext cx="5334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3"/>
              <p:cNvSpPr txBox="1"/>
              <p:nvPr/>
            </p:nvSpPr>
            <p:spPr>
              <a:xfrm>
                <a:off x="142875" y="114300"/>
                <a:ext cx="50484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developer_board</a:t>
                </a:r>
                <a:r>
                  <a:rPr b="1" lang="en-US" sz="13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Hardware</a:t>
                </a:r>
                <a:endParaRPr b="1" sz="13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Quadrotor airframe, 360-sample 2D LiDAR (12 m), aligned RGB + depth camera, IMU and barometer, and an onboard edge compute module. Thermal imaging is the planned hardware addition.</a:t>
                </a:r>
                <a:endParaRPr b="0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3"/>
            <p:cNvGrpSpPr/>
            <p:nvPr/>
          </p:nvGrpSpPr>
          <p:grpSpPr>
            <a:xfrm>
              <a:off x="6248400" y="1381125"/>
              <a:ext cx="5334000" cy="1095300"/>
              <a:chOff x="0" y="0"/>
              <a:chExt cx="5334000" cy="1095300"/>
            </a:xfrm>
          </p:grpSpPr>
          <p:sp>
            <p:nvSpPr>
              <p:cNvPr id="140" name="Google Shape;140;p3"/>
              <p:cNvSpPr/>
              <p:nvPr/>
            </p:nvSpPr>
            <p:spPr>
              <a:xfrm>
                <a:off x="0" y="0"/>
                <a:ext cx="5334000" cy="1095300"/>
              </a:xfrm>
              <a:prstGeom prst="roundRect">
                <a:avLst>
                  <a:gd fmla="val 6956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0" y="0"/>
                <a:ext cx="5334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3"/>
              <p:cNvSpPr txBox="1"/>
              <p:nvPr/>
            </p:nvSpPr>
            <p:spPr>
              <a:xfrm>
                <a:off x="142875" y="114300"/>
                <a:ext cx="5048400" cy="9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r>
                  <a:rPr b="1" lang="en-US" sz="13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Software &amp; Frameworks</a:t>
                </a:r>
                <a:endParaRPr b="1" sz="13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0" lang="en-US" sz="11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ROS 2 Jazzy, ArduPilot (EKF3 on external navigation), Gazebo Harmonic, Python and C++, LiteRT / TensorFlow Lite SSD-Lite, OpenCV, slam_toolbox, Micro-XRCE-DDS.</a:t>
                </a:r>
                <a:endParaRPr b="0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3" name="Google Shape;143;p3"/>
          <p:cNvGrpSpPr/>
          <p:nvPr/>
        </p:nvGrpSpPr>
        <p:grpSpPr>
          <a:xfrm>
            <a:off x="609600" y="2667000"/>
            <a:ext cx="10972950" cy="3381375"/>
            <a:chOff x="609600" y="2667000"/>
            <a:chExt cx="10972950" cy="3381375"/>
          </a:xfrm>
        </p:grpSpPr>
        <p:sp>
          <p:nvSpPr>
            <p:cNvPr id="144" name="Google Shape;144;p3"/>
            <p:cNvSpPr txBox="1"/>
            <p:nvPr/>
          </p:nvSpPr>
          <p:spPr>
            <a:xfrm>
              <a:off x="609600" y="2667000"/>
              <a:ext cx="109728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Methodology and process for implementation</a:t>
              </a:r>
              <a:endParaRPr b="1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45;p3"/>
            <p:cNvGrpSpPr/>
            <p:nvPr/>
          </p:nvGrpSpPr>
          <p:grpSpPr>
            <a:xfrm>
              <a:off x="609600" y="3000375"/>
              <a:ext cx="2571900" cy="3048000"/>
              <a:chOff x="0" y="0"/>
              <a:chExt cx="2571900" cy="3048000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0" y="0"/>
                <a:ext cx="2571900" cy="3048000"/>
              </a:xfrm>
              <a:prstGeom prst="roundRect">
                <a:avLst>
                  <a:gd fmla="val 2962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0" y="0"/>
                <a:ext cx="2571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3"/>
              <p:cNvSpPr txBox="1"/>
              <p:nvPr/>
            </p:nvSpPr>
            <p:spPr>
              <a:xfrm>
                <a:off x="142875" y="142875"/>
                <a:ext cx="22860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b="1" sz="24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Phase 1 - Autonomy (Done)</a:t>
                </a:r>
                <a:endParaRPr b="1" sz="13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GPS-denied flight, SLAM mapping, onboard detection and self-directed frontier search, flown unattended from arm to landing.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3"/>
            <p:cNvGrpSpPr/>
            <p:nvPr/>
          </p:nvGrpSpPr>
          <p:grpSpPr>
            <a:xfrm>
              <a:off x="3409950" y="3000375"/>
              <a:ext cx="2571900" cy="3048000"/>
              <a:chOff x="0" y="0"/>
              <a:chExt cx="2571900" cy="3048000"/>
            </a:xfrm>
          </p:grpSpPr>
          <p:sp>
            <p:nvSpPr>
              <p:cNvPr id="150" name="Google Shape;150;p3"/>
              <p:cNvSpPr/>
              <p:nvPr/>
            </p:nvSpPr>
            <p:spPr>
              <a:xfrm>
                <a:off x="0" y="0"/>
                <a:ext cx="2571900" cy="3048000"/>
              </a:xfrm>
              <a:prstGeom prst="roundRect">
                <a:avLst>
                  <a:gd fmla="val 2962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0" y="0"/>
                <a:ext cx="2571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3"/>
              <p:cNvSpPr txBox="1"/>
              <p:nvPr/>
            </p:nvSpPr>
            <p:spPr>
              <a:xfrm>
                <a:off x="142875" y="142875"/>
                <a:ext cx="22860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b="1" sz="24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Phase 2 - Two Drones (Done)</a:t>
                </a:r>
                <a:endParaRPr b="1" sz="13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Sector partitioning assigned before entry, plus hazard mapping and a ground station that merges both drones into one report.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3"/>
            <p:cNvGrpSpPr/>
            <p:nvPr/>
          </p:nvGrpSpPr>
          <p:grpSpPr>
            <a:xfrm>
              <a:off x="6210300" y="3000375"/>
              <a:ext cx="2571900" cy="3048000"/>
              <a:chOff x="0" y="0"/>
              <a:chExt cx="2571900" cy="3048000"/>
            </a:xfrm>
          </p:grpSpPr>
          <p:sp>
            <p:nvSpPr>
              <p:cNvPr id="154" name="Google Shape;154;p3"/>
              <p:cNvSpPr/>
              <p:nvPr/>
            </p:nvSpPr>
            <p:spPr>
              <a:xfrm>
                <a:off x="0" y="0"/>
                <a:ext cx="2571900" cy="3048000"/>
              </a:xfrm>
              <a:prstGeom prst="roundRect">
                <a:avLst>
                  <a:gd fmla="val 2962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0" y="0"/>
                <a:ext cx="2571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3"/>
              <p:cNvSpPr txBox="1"/>
              <p:nvPr/>
            </p:nvSpPr>
            <p:spPr>
              <a:xfrm>
                <a:off x="142875" y="142875"/>
                <a:ext cx="22860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b="1" sz="24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Phase 3 - Hardware</a:t>
                </a:r>
                <a:endParaRPr b="1" sz="13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Port the same ROS 2 graph onto a physical airframe with edge compute and add a thermal camera for smoke and low-light conditions.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" name="Google Shape;157;p3"/>
            <p:cNvGrpSpPr/>
            <p:nvPr/>
          </p:nvGrpSpPr>
          <p:grpSpPr>
            <a:xfrm>
              <a:off x="9010650" y="3000375"/>
              <a:ext cx="2571900" cy="3048000"/>
              <a:chOff x="0" y="0"/>
              <a:chExt cx="2571900" cy="3048000"/>
            </a:xfrm>
          </p:grpSpPr>
          <p:sp>
            <p:nvSpPr>
              <p:cNvPr id="158" name="Google Shape;158;p3"/>
              <p:cNvSpPr/>
              <p:nvPr/>
            </p:nvSpPr>
            <p:spPr>
              <a:xfrm>
                <a:off x="0" y="0"/>
                <a:ext cx="2571900" cy="3048000"/>
              </a:xfrm>
              <a:prstGeom prst="roundRect">
                <a:avLst>
                  <a:gd fmla="val 2962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0" y="0"/>
                <a:ext cx="25719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3"/>
              <p:cNvSpPr txBox="1"/>
              <p:nvPr/>
            </p:nvSpPr>
            <p:spPr>
              <a:xfrm>
                <a:off x="142875" y="142875"/>
                <a:ext cx="2286000" cy="276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400">
                    <a:solidFill>
                      <a:srgbClr val="CBD5E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endParaRPr b="1" sz="2400">
                  <a:solidFill>
                    <a:srgbClr val="CBD5E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75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Phase 4 - Field Trials</a:t>
                </a:r>
                <a:endParaRPr b="1" sz="1300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Validate flight stability, detection accuracy and latency in disaster-simulation conditions with rescue practitioners.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 txBox="1"/>
          <p:nvPr>
            <p:ph type="title"/>
          </p:nvPr>
        </p:nvSpPr>
        <p:spPr>
          <a:xfrm>
            <a:off x="1714500" y="381000"/>
            <a:ext cx="7620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b="1" i="0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375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Analysis, Potential Challenges &amp; Strategic Mitigations</a:t>
            </a:r>
            <a:endParaRPr b="1" i="0" sz="14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9" name="Google Shape;169;p4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70" name="Google Shape;1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301" y="26232"/>
            <a:ext cx="2740998" cy="12447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4"/>
          <p:cNvGrpSpPr/>
          <p:nvPr/>
        </p:nvGrpSpPr>
        <p:grpSpPr>
          <a:xfrm>
            <a:off x="571500" y="1571625"/>
            <a:ext cx="3476700" cy="4381500"/>
            <a:chOff x="0" y="0"/>
            <a:chExt cx="3476700" cy="4381500"/>
          </a:xfrm>
        </p:grpSpPr>
        <p:sp>
          <p:nvSpPr>
            <p:cNvPr id="172" name="Google Shape;172;p4"/>
            <p:cNvSpPr/>
            <p:nvPr/>
          </p:nvSpPr>
          <p:spPr>
            <a:xfrm>
              <a:off x="0" y="0"/>
              <a:ext cx="3476700" cy="4381500"/>
            </a:xfrm>
            <a:prstGeom prst="roundRect">
              <a:avLst>
                <a:gd fmla="val 328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0" y="0"/>
              <a:ext cx="3476700" cy="57300"/>
            </a:xfrm>
            <a:prstGeom prst="roundRect">
              <a:avLst>
                <a:gd fmla="val 49999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4" name="Google Shape;174;p4"/>
            <p:cNvGrpSpPr/>
            <p:nvPr/>
          </p:nvGrpSpPr>
          <p:grpSpPr>
            <a:xfrm>
              <a:off x="238125" y="238125"/>
              <a:ext cx="3000300" cy="3905400"/>
              <a:chOff x="0" y="0"/>
              <a:chExt cx="3000300" cy="3905400"/>
            </a:xfrm>
          </p:grpSpPr>
          <p:sp>
            <p:nvSpPr>
              <p:cNvPr id="175" name="Google Shape;175;p4"/>
              <p:cNvSpPr/>
              <p:nvPr/>
            </p:nvSpPr>
            <p:spPr>
              <a:xfrm>
                <a:off x="0" y="0"/>
                <a:ext cx="3000300" cy="3905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4"/>
              <p:cNvSpPr txBox="1"/>
              <p:nvPr/>
            </p:nvSpPr>
            <p:spPr>
              <a:xfrm>
                <a:off x="0" y="0"/>
                <a:ext cx="3000300" cy="39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r>
                  <a:rPr b="1" i="0" lang="en-US" sz="16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FEASIBILITY ANALYSIS</a:t>
                </a:r>
                <a:endParaRPr b="0" i="0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Working Prototype: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 complete mission already runs unattended: arm, search, detect, report, return, land. The results below are measured, not projected.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build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COTS + Open Source: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ROS 2 and ArduPilot on commodity hardware. Nothing in the software graph is simulation-specific, so the same stack flies the airframe.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grpSp>
        <p:nvGrpSpPr>
          <p:cNvPr id="177" name="Google Shape;177;p4"/>
          <p:cNvGrpSpPr/>
          <p:nvPr/>
        </p:nvGrpSpPr>
        <p:grpSpPr>
          <a:xfrm>
            <a:off x="4333875" y="1571625"/>
            <a:ext cx="3524400" cy="4381500"/>
            <a:chOff x="0" y="0"/>
            <a:chExt cx="3524400" cy="4381500"/>
          </a:xfrm>
        </p:grpSpPr>
        <p:sp>
          <p:nvSpPr>
            <p:cNvPr id="178" name="Google Shape;178;p4"/>
            <p:cNvSpPr/>
            <p:nvPr/>
          </p:nvSpPr>
          <p:spPr>
            <a:xfrm>
              <a:off x="0" y="0"/>
              <a:ext cx="3524400" cy="4381500"/>
            </a:xfrm>
            <a:prstGeom prst="roundRect">
              <a:avLst>
                <a:gd fmla="val 3242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4"/>
            <p:cNvSpPr/>
            <p:nvPr/>
          </p:nvSpPr>
          <p:spPr>
            <a:xfrm>
              <a:off x="0" y="0"/>
              <a:ext cx="3524400" cy="57300"/>
            </a:xfrm>
            <a:prstGeom prst="roundRect">
              <a:avLst>
                <a:gd fmla="val 49999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" name="Google Shape;180;p4"/>
            <p:cNvGrpSpPr/>
            <p:nvPr/>
          </p:nvGrpSpPr>
          <p:grpSpPr>
            <a:xfrm>
              <a:off x="238125" y="238125"/>
              <a:ext cx="3048000" cy="3905400"/>
              <a:chOff x="0" y="0"/>
              <a:chExt cx="3048000" cy="3905400"/>
            </a:xfrm>
          </p:grpSpPr>
          <p:sp>
            <p:nvSpPr>
              <p:cNvPr id="181" name="Google Shape;181;p4"/>
              <p:cNvSpPr/>
              <p:nvPr/>
            </p:nvSpPr>
            <p:spPr>
              <a:xfrm>
                <a:off x="0" y="0"/>
                <a:ext cx="3048000" cy="3905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4"/>
              <p:cNvSpPr txBox="1"/>
              <p:nvPr/>
            </p:nvSpPr>
            <p:spPr>
              <a:xfrm>
                <a:off x="0" y="0"/>
                <a:ext cx="3048000" cy="39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warning</a:t>
                </a:r>
                <a:r>
                  <a:rPr b="1" i="0" lang="en-US" sz="16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CHALLENGES &amp; RISKS</a:t>
                </a:r>
                <a:endParaRPr b="0" i="0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BA1A1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battery_alert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Battery Constraints: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Restricted flight endurance limits how much of a structure a single sortie can cover.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BA1A1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wifi_off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Radio Denial Indoors: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Reinforced concrete costs 10-20 dB per wall, so drones cannot depend on a live link to each other or to the operator.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BA1A1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timeline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Odometry Drift: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Scan-matching accumulates error over a long flight, which moves every coordinate the drone reports.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grpSp>
        <p:nvGrpSpPr>
          <p:cNvPr id="183" name="Google Shape;183;p4"/>
          <p:cNvGrpSpPr/>
          <p:nvPr/>
        </p:nvGrpSpPr>
        <p:grpSpPr>
          <a:xfrm>
            <a:off x="8143875" y="1571625"/>
            <a:ext cx="3476700" cy="4381500"/>
            <a:chOff x="0" y="0"/>
            <a:chExt cx="3476700" cy="4381500"/>
          </a:xfrm>
        </p:grpSpPr>
        <p:sp>
          <p:nvSpPr>
            <p:cNvPr id="184" name="Google Shape;184;p4"/>
            <p:cNvSpPr/>
            <p:nvPr/>
          </p:nvSpPr>
          <p:spPr>
            <a:xfrm>
              <a:off x="0" y="0"/>
              <a:ext cx="3476700" cy="4381500"/>
            </a:xfrm>
            <a:prstGeom prst="roundRect">
              <a:avLst>
                <a:gd fmla="val 3286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0" y="0"/>
              <a:ext cx="3476700" cy="57300"/>
            </a:xfrm>
            <a:prstGeom prst="roundRect">
              <a:avLst>
                <a:gd fmla="val 49999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" name="Google Shape;186;p4"/>
            <p:cNvGrpSpPr/>
            <p:nvPr/>
          </p:nvGrpSpPr>
          <p:grpSpPr>
            <a:xfrm>
              <a:off x="238125" y="238125"/>
              <a:ext cx="3000300" cy="3905400"/>
              <a:chOff x="0" y="0"/>
              <a:chExt cx="3000300" cy="3905400"/>
            </a:xfrm>
          </p:grpSpPr>
          <p:sp>
            <p:nvSpPr>
              <p:cNvPr id="187" name="Google Shape;187;p4"/>
              <p:cNvSpPr/>
              <p:nvPr/>
            </p:nvSpPr>
            <p:spPr>
              <a:xfrm>
                <a:off x="0" y="0"/>
                <a:ext cx="3000300" cy="3905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4"/>
              <p:cNvSpPr txBox="1"/>
              <p:nvPr/>
            </p:nvSpPr>
            <p:spPr>
              <a:xfrm>
                <a:off x="0" y="0"/>
                <a:ext cx="3000300" cy="39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28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gavel</a:t>
                </a:r>
                <a:r>
                  <a:rPr b="1" i="0" lang="en-US" sz="16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MITIGATION STRATEGIES</a:t>
                </a:r>
                <a:endParaRPr b="0" i="0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125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battery_charging_full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Power Management: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Hot-swappable packs, and a search that splits across drones so each sortie covers less ground.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hub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Boundary Coordination: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Sectors are agreed before entry and results reconciled after exit, so no in-flight radio link is required at all.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0" i="0" lang="en-US" sz="16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explore</a:t>
                </a:r>
                <a:r>
                  <a:rPr b="1" i="0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LiDAR Navigation (Built):</a:t>
                </a:r>
                <a:br>
                  <a:rPr b="0" i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i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Implemented and flown. Survivor coordinates land within 0.50 m of ground truth across a 26 m building, with no satellite fix.</a:t>
                </a:r>
                <a:endParaRPr b="0" i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grpSp>
        <p:nvGrpSpPr>
          <p:cNvPr id="189" name="Google Shape;189;p4"/>
          <p:cNvGrpSpPr/>
          <p:nvPr/>
        </p:nvGrpSpPr>
        <p:grpSpPr>
          <a:xfrm>
            <a:off x="182524" y="317563"/>
            <a:ext cx="1697400" cy="662100"/>
            <a:chOff x="0" y="0"/>
            <a:chExt cx="1697400" cy="662100"/>
          </a:xfrm>
        </p:grpSpPr>
        <p:sp>
          <p:nvSpPr>
            <p:cNvPr id="190" name="Google Shape;190;p4"/>
            <p:cNvSpPr/>
            <p:nvPr/>
          </p:nvSpPr>
          <p:spPr>
            <a:xfrm>
              <a:off x="0" y="0"/>
              <a:ext cx="1697400" cy="662100"/>
            </a:xfrm>
            <a:prstGeom prst="ellipse">
              <a:avLst/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248579" y="96963"/>
              <a:ext cx="1200300" cy="46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8">
                  <a:solidFill>
                    <a:srgbClr val="475569"/>
                  </a:solidFill>
                  <a:latin typeface="Oswald"/>
                  <a:ea typeface="Oswald"/>
                  <a:cs typeface="Oswald"/>
                  <a:sym typeface="Oswald"/>
                </a:rPr>
                <a:t>Swarm Robotics</a:t>
              </a:r>
              <a:endParaRPr b="1" sz="1488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>
            <p:ph type="title"/>
          </p:nvPr>
        </p:nvSpPr>
        <p:spPr>
          <a:xfrm>
            <a:off x="1714500" y="381000"/>
            <a:ext cx="7620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Potential Target Audience Impact &amp; Key Strategic Benefits</a:t>
            </a:r>
            <a:endParaRPr b="1" sz="14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5"/>
          <p:cNvGrpSpPr/>
          <p:nvPr/>
        </p:nvGrpSpPr>
        <p:grpSpPr>
          <a:xfrm>
            <a:off x="666750" y="1571625"/>
            <a:ext cx="5143500" cy="4381500"/>
            <a:chOff x="0" y="0"/>
            <a:chExt cx="5143500" cy="4381500"/>
          </a:xfrm>
        </p:grpSpPr>
        <p:sp>
          <p:nvSpPr>
            <p:cNvPr id="200" name="Google Shape;200;p5"/>
            <p:cNvSpPr/>
            <p:nvPr/>
          </p:nvSpPr>
          <p:spPr>
            <a:xfrm>
              <a:off x="0" y="0"/>
              <a:ext cx="5143500" cy="4381500"/>
            </a:xfrm>
            <a:prstGeom prst="roundRect">
              <a:avLst>
                <a:gd fmla="val 260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0" y="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2" name="Google Shape;202;p5"/>
            <p:cNvGrpSpPr/>
            <p:nvPr/>
          </p:nvGrpSpPr>
          <p:grpSpPr>
            <a:xfrm>
              <a:off x="238125" y="238125"/>
              <a:ext cx="4667400" cy="3905400"/>
              <a:chOff x="0" y="0"/>
              <a:chExt cx="4667400" cy="3905400"/>
            </a:xfrm>
          </p:grpSpPr>
          <p:sp>
            <p:nvSpPr>
              <p:cNvPr id="203" name="Google Shape;203;p5"/>
              <p:cNvSpPr/>
              <p:nvPr/>
            </p:nvSpPr>
            <p:spPr>
              <a:xfrm>
                <a:off x="0" y="0"/>
                <a:ext cx="4667400" cy="3905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5"/>
              <p:cNvSpPr txBox="1"/>
              <p:nvPr/>
            </p:nvSpPr>
            <p:spPr>
              <a:xfrm>
                <a:off x="0" y="0"/>
                <a:ext cx="4667400" cy="39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8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r>
                  <a:rPr b="1" lang="en-US" sz="16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TARGET AUDIENCE IMPACT</a:t>
                </a:r>
                <a:endParaRPr b="0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security</a:t>
                </a:r>
                <a:r>
                  <a:rPr b="1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First Responders:</a:t>
                </a:r>
                <a:br>
                  <a:rPr b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floor plan, the victim coordinates and the hazards all arrive before anyone enters. Narrowed passages and dead routes are marked in advance.</a:t>
                </a:r>
                <a:endParaRPr b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1500"/>
                  </a:spcAft>
                  <a:buNone/>
                </a:pPr>
                <a:r>
                  <a:rPr b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healing</a:t>
                </a:r>
                <a:r>
                  <a:rPr b="1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Victims:</a:t>
                </a:r>
                <a:br>
                  <a:rPr b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Protects the golden hour: two drones halve the ground each has to cover, and every confirmed victim arrives as a coordinate a responder can walk to.</a:t>
                </a:r>
                <a:endParaRPr b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grpSp>
        <p:nvGrpSpPr>
          <p:cNvPr id="205" name="Google Shape;205;p5"/>
          <p:cNvGrpSpPr/>
          <p:nvPr/>
        </p:nvGrpSpPr>
        <p:grpSpPr>
          <a:xfrm>
            <a:off x="6381750" y="1571625"/>
            <a:ext cx="5143500" cy="4381500"/>
            <a:chOff x="0" y="0"/>
            <a:chExt cx="5143500" cy="4381500"/>
          </a:xfrm>
        </p:grpSpPr>
        <p:sp>
          <p:nvSpPr>
            <p:cNvPr id="206" name="Google Shape;206;p5"/>
            <p:cNvSpPr/>
            <p:nvPr/>
          </p:nvSpPr>
          <p:spPr>
            <a:xfrm>
              <a:off x="0" y="0"/>
              <a:ext cx="5143500" cy="4381500"/>
            </a:xfrm>
            <a:prstGeom prst="roundRect">
              <a:avLst>
                <a:gd fmla="val 2608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0" y="0"/>
              <a:ext cx="5143500" cy="57300"/>
            </a:xfrm>
            <a:prstGeom prst="roundRect">
              <a:avLst>
                <a:gd fmla="val 50000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8" name="Google Shape;208;p5"/>
            <p:cNvGrpSpPr/>
            <p:nvPr/>
          </p:nvGrpSpPr>
          <p:grpSpPr>
            <a:xfrm>
              <a:off x="238125" y="238125"/>
              <a:ext cx="4667400" cy="3905400"/>
              <a:chOff x="0" y="0"/>
              <a:chExt cx="4667400" cy="3905400"/>
            </a:xfrm>
          </p:grpSpPr>
          <p:sp>
            <p:nvSpPr>
              <p:cNvPr id="209" name="Google Shape;209;p5"/>
              <p:cNvSpPr/>
              <p:nvPr/>
            </p:nvSpPr>
            <p:spPr>
              <a:xfrm>
                <a:off x="0" y="0"/>
                <a:ext cx="4667400" cy="3905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5"/>
              <p:cNvSpPr txBox="1"/>
              <p:nvPr/>
            </p:nvSpPr>
            <p:spPr>
              <a:xfrm>
                <a:off x="0" y="0"/>
                <a:ext cx="4667400" cy="39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8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star</a:t>
                </a:r>
                <a:r>
                  <a:rPr b="1" lang="en-US" sz="1600">
                    <a:solidFill>
                      <a:srgbClr val="1E293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BENEFITS OF THE SOLUTION</a:t>
                </a:r>
                <a:endParaRPr b="0" sz="28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public</a:t>
                </a:r>
                <a:r>
                  <a:rPr b="1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Social:</a:t>
                </a:r>
                <a:br>
                  <a:rPr b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Preserves life in earthquakes, building collapses, industrial accidents and missing-person searches, including where no radio or satellite reaches.</a:t>
                </a:r>
                <a:endParaRPr b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0" lang="en-US" sz="16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payments</a:t>
                </a:r>
                <a:r>
                  <a:rPr b="1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Economic:</a:t>
                </a:r>
                <a:br>
                  <a:rPr b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Cuts the manpower and hours a prolonged manual sweep demands, and is built on commodity hardware and open-source software.</a:t>
                </a:r>
                <a:endParaRPr b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b="0" lang="en-US" sz="1600">
                    <a:solidFill>
                      <a:srgbClr val="16A34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eco</a:t>
                </a:r>
                <a:r>
                  <a:rPr b="1" lang="en-US" sz="125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Environmental:</a:t>
                </a:r>
                <a:br>
                  <a:rPr b="0" lang="en-US" sz="16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</a:b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 electric UAV carries a far smaller carbon and noise footprint than the rescue helicopters it supplements.</a:t>
                </a:r>
                <a:endParaRPr b="0" sz="16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sp>
        <p:nvSpPr>
          <p:cNvPr id="211" name="Google Shape;211;p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2" name="Google Shape;212;p5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13" name="Google Shape;2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301" y="26232"/>
            <a:ext cx="2740998" cy="124476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5"/>
          <p:cNvGrpSpPr/>
          <p:nvPr/>
        </p:nvGrpSpPr>
        <p:grpSpPr>
          <a:xfrm>
            <a:off x="182524" y="317563"/>
            <a:ext cx="1697400" cy="662100"/>
            <a:chOff x="0" y="0"/>
            <a:chExt cx="1697400" cy="662100"/>
          </a:xfrm>
        </p:grpSpPr>
        <p:sp>
          <p:nvSpPr>
            <p:cNvPr id="215" name="Google Shape;215;p5"/>
            <p:cNvSpPr/>
            <p:nvPr/>
          </p:nvSpPr>
          <p:spPr>
            <a:xfrm>
              <a:off x="0" y="0"/>
              <a:ext cx="1697400" cy="662100"/>
            </a:xfrm>
            <a:prstGeom prst="ellipse">
              <a:avLst/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248579" y="96963"/>
              <a:ext cx="1200300" cy="46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8">
                  <a:solidFill>
                    <a:srgbClr val="475569"/>
                  </a:solidFill>
                  <a:latin typeface="Oswald"/>
                  <a:ea typeface="Oswald"/>
                  <a:cs typeface="Oswald"/>
                  <a:sym typeface="Oswald"/>
                </a:rPr>
                <a:t>Swarm Robotics</a:t>
              </a:r>
              <a:endParaRPr b="1" sz="1488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 txBox="1"/>
          <p:nvPr>
            <p:ph type="title"/>
          </p:nvPr>
        </p:nvSpPr>
        <p:spPr>
          <a:xfrm>
            <a:off x="1714500" y="381000"/>
            <a:ext cx="7620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AND REFERENCES</a:t>
            </a:r>
            <a:endParaRPr b="1" sz="320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Key Academic &amp; Technical Literature Supporting the Solution</a:t>
            </a:r>
            <a:endParaRPr b="1" sz="1400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" name="Google Shape;224;p6"/>
          <p:cNvGrpSpPr/>
          <p:nvPr/>
        </p:nvGrpSpPr>
        <p:grpSpPr>
          <a:xfrm>
            <a:off x="609600" y="1571625"/>
            <a:ext cx="10972950" cy="4524450"/>
            <a:chOff x="609600" y="1571625"/>
            <a:chExt cx="10972950" cy="4524450"/>
          </a:xfrm>
        </p:grpSpPr>
        <p:grpSp>
          <p:nvGrpSpPr>
            <p:cNvPr id="225" name="Google Shape;225;p6"/>
            <p:cNvGrpSpPr/>
            <p:nvPr/>
          </p:nvGrpSpPr>
          <p:grpSpPr>
            <a:xfrm>
              <a:off x="609600" y="1571625"/>
              <a:ext cx="5315100" cy="2143200"/>
              <a:chOff x="0" y="0"/>
              <a:chExt cx="5315100" cy="2143200"/>
            </a:xfrm>
          </p:grpSpPr>
          <p:sp>
            <p:nvSpPr>
              <p:cNvPr id="226" name="Google Shape;226;p6"/>
              <p:cNvSpPr/>
              <p:nvPr/>
            </p:nvSpPr>
            <p:spPr>
              <a:xfrm>
                <a:off x="0" y="0"/>
                <a:ext cx="5315100" cy="2143200"/>
              </a:xfrm>
              <a:prstGeom prst="roundRect">
                <a:avLst>
                  <a:gd fmla="val 5333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0" y="0"/>
                <a:ext cx="53151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 txBox="1"/>
              <p:nvPr/>
            </p:nvSpPr>
            <p:spPr>
              <a:xfrm>
                <a:off x="190500" y="190500"/>
                <a:ext cx="4934100" cy="1762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r>
                  <a:rPr b="1" lang="en-US" sz="16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On-Device Inference</a:t>
                </a:r>
                <a:endParaRPr b="0" sz="20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LiteRT / TensorFlow Lite SSD-Lite object detection, running CPU-only inside an edge compute budget with no cloud dependency.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6"/>
            <p:cNvGrpSpPr/>
            <p:nvPr/>
          </p:nvGrpSpPr>
          <p:grpSpPr>
            <a:xfrm>
              <a:off x="6267450" y="1571625"/>
              <a:ext cx="5315100" cy="2143200"/>
              <a:chOff x="0" y="0"/>
              <a:chExt cx="5315100" cy="2143200"/>
            </a:xfrm>
          </p:grpSpPr>
          <p:sp>
            <p:nvSpPr>
              <p:cNvPr id="230" name="Google Shape;230;p6"/>
              <p:cNvSpPr/>
              <p:nvPr/>
            </p:nvSpPr>
            <p:spPr>
              <a:xfrm>
                <a:off x="0" y="0"/>
                <a:ext cx="5315100" cy="2143200"/>
              </a:xfrm>
              <a:prstGeom prst="roundRect">
                <a:avLst>
                  <a:gd fmla="val 5333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0" y="0"/>
                <a:ext cx="53151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 txBox="1"/>
              <p:nvPr/>
            </p:nvSpPr>
            <p:spPr>
              <a:xfrm>
                <a:off x="190500" y="190500"/>
                <a:ext cx="4934100" cy="1762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travel_explore</a:t>
                </a:r>
                <a:r>
                  <a:rPr b="1" lang="en-US" sz="16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Frontier-Based Exploration</a:t>
                </a:r>
                <a:endParaRPr b="0" sz="20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B. Yamauchi, 'A Frontier-Based Approach for Autonomous Exploration', IEEE CIRA 1997. The basis of the drone's self-directed search.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" name="Google Shape;233;p6"/>
            <p:cNvGrpSpPr/>
            <p:nvPr/>
          </p:nvGrpSpPr>
          <p:grpSpPr>
            <a:xfrm>
              <a:off x="609600" y="3952875"/>
              <a:ext cx="5315100" cy="2143200"/>
              <a:chOff x="0" y="0"/>
              <a:chExt cx="5315100" cy="2143200"/>
            </a:xfrm>
          </p:grpSpPr>
          <p:sp>
            <p:nvSpPr>
              <p:cNvPr id="234" name="Google Shape;234;p6"/>
              <p:cNvSpPr/>
              <p:nvPr/>
            </p:nvSpPr>
            <p:spPr>
              <a:xfrm>
                <a:off x="0" y="0"/>
                <a:ext cx="5315100" cy="2143200"/>
              </a:xfrm>
              <a:prstGeom prst="roundRect">
                <a:avLst>
                  <a:gd fmla="val 5333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0" y="0"/>
                <a:ext cx="53151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 txBox="1"/>
              <p:nvPr/>
            </p:nvSpPr>
            <p:spPr>
              <a:xfrm>
                <a:off x="190500" y="190500"/>
                <a:ext cx="4934100" cy="1762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flight</a:t>
                </a:r>
                <a:r>
                  <a:rPr b="1" lang="en-US" sz="16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GPS-Denied Flight Control</a:t>
                </a:r>
                <a:endParaRPr b="0" sz="20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ArduPilot EKF3 external-navigation sources and the AP_DDS native ROS 2 interface, used to fly on vision instead of GPS.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" name="Google Shape;237;p6"/>
            <p:cNvGrpSpPr/>
            <p:nvPr/>
          </p:nvGrpSpPr>
          <p:grpSpPr>
            <a:xfrm>
              <a:off x="6267450" y="3952875"/>
              <a:ext cx="5315100" cy="2143200"/>
              <a:chOff x="0" y="0"/>
              <a:chExt cx="5315100" cy="2143200"/>
            </a:xfrm>
          </p:grpSpPr>
          <p:sp>
            <p:nvSpPr>
              <p:cNvPr id="238" name="Google Shape;238;p6"/>
              <p:cNvSpPr/>
              <p:nvPr/>
            </p:nvSpPr>
            <p:spPr>
              <a:xfrm>
                <a:off x="0" y="0"/>
                <a:ext cx="5315100" cy="2143200"/>
              </a:xfrm>
              <a:prstGeom prst="roundRect">
                <a:avLst>
                  <a:gd fmla="val 5333" name="adj"/>
                </a:avLst>
              </a:prstGeom>
              <a:solidFill>
                <a:srgbClr val="F8FAFC"/>
              </a:solidFill>
              <a:ln cap="flat" cmpd="sng" w="14300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0" y="0"/>
                <a:ext cx="53151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 txBox="1"/>
              <p:nvPr/>
            </p:nvSpPr>
            <p:spPr>
              <a:xfrm>
                <a:off x="190500" y="190500"/>
                <a:ext cx="4934100" cy="1762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2000">
                    <a:solidFill>
                      <a:srgbClr val="0070C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map</a:t>
                </a:r>
                <a:r>
                  <a:rPr b="1" lang="en-US" sz="1600">
                    <a:solidFill>
                      <a:srgbClr val="0F172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SLAM and Laser Odometry</a:t>
                </a:r>
                <a:endParaRPr b="0" sz="2000">
                  <a:solidFill>
                    <a:srgbClr val="0070C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-US" sz="115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S. Macenski, slam_toolbox (JOSS 2021), and M. Jaimez et al., 'Planar Odometry from a Radial Laser Scanner' (RF2O), ICRA 2016.</a:t>
                </a:r>
                <a:endParaRPr b="0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1" name="Google Shape;241;p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42" name="Google Shape;242;p6"/>
          <p:cNvSpPr txBox="1"/>
          <p:nvPr>
            <p:ph idx="11" type="ftr"/>
          </p:nvPr>
        </p:nvSpPr>
        <p:spPr>
          <a:xfrm>
            <a:off x="4648200" y="6356353"/>
            <a:ext cx="3204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@SIH Idea submission- Template</a:t>
            </a:r>
            <a:endParaRPr b="0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43" name="Google Shape;243;p6"/>
          <p:cNvGrpSpPr/>
          <p:nvPr/>
        </p:nvGrpSpPr>
        <p:grpSpPr>
          <a:xfrm>
            <a:off x="182524" y="317563"/>
            <a:ext cx="1697400" cy="662100"/>
            <a:chOff x="0" y="0"/>
            <a:chExt cx="1697400" cy="662100"/>
          </a:xfrm>
        </p:grpSpPr>
        <p:sp>
          <p:nvSpPr>
            <p:cNvPr id="244" name="Google Shape;244;p6"/>
            <p:cNvSpPr/>
            <p:nvPr/>
          </p:nvSpPr>
          <p:spPr>
            <a:xfrm>
              <a:off x="0" y="0"/>
              <a:ext cx="1697400" cy="662100"/>
            </a:xfrm>
            <a:prstGeom prst="ellipse">
              <a:avLst/>
            </a:prstGeom>
            <a:solidFill>
              <a:srgbClr val="F1F5F9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6"/>
            <p:cNvSpPr txBox="1"/>
            <p:nvPr/>
          </p:nvSpPr>
          <p:spPr>
            <a:xfrm>
              <a:off x="248579" y="96963"/>
              <a:ext cx="1200300" cy="468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8">
                  <a:solidFill>
                    <a:srgbClr val="475569"/>
                  </a:solidFill>
                  <a:latin typeface="Oswald"/>
                  <a:ea typeface="Oswald"/>
                  <a:cs typeface="Oswald"/>
                  <a:sym typeface="Oswald"/>
                </a:rPr>
                <a:t>Swarm Robotics</a:t>
              </a:r>
              <a:endParaRPr b="1" sz="1488">
                <a:solidFill>
                  <a:srgbClr val="475569"/>
                </a:solidFill>
                <a:latin typeface="Oswald"/>
                <a:ea typeface="Oswald"/>
                <a:cs typeface="Oswald"/>
                <a:sym typeface="Oswald"/>
              </a:endParaRPr>
            </a:p>
          </p:txBody>
        </p:sp>
      </p:grpSp>
      <p:pic>
        <p:nvPicPr>
          <p:cNvPr id="246" name="Google Shape;2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2301" y="26232"/>
            <a:ext cx="2740998" cy="1244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